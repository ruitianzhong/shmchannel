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17000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ph type="body" sz="quarter" idx="5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ph type="body" sz="quarter" idx="6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ph type="body" sz="quarter" idx="7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8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9" name="AutoShape 9"/>
          <p:cNvSpPr/>
          <p:nvPr>
            <p:ph type="body" sz="quarter" idx="9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0" name="AutoShape 10"/>
          <p:cNvSpPr/>
          <p:nvPr>
            <p:ph type="body" sz="quarter" idx="10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1" name="AutoShape 11"/>
          <p:cNvSpPr/>
          <p:nvPr>
            <p:ph type="body" sz="quarter" idx="11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2" name="AutoShape 12"/>
          <p:cNvSpPr/>
          <p:nvPr>
            <p:ph type="body" sz="quarter" idx="12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3" name="AutoShape 13"/>
          <p:cNvSpPr/>
          <p:nvPr>
            <p:ph type="body" sz="quarter" idx="13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4" name="AutoShape 14"/>
          <p:cNvSpPr/>
          <p:nvPr>
            <p:ph type="body" sz="quarter" idx="14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>
            <p:ph type="body" sz="quarter" idx="15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16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pic" sz="quarter" idx="17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8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19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pic" sz="quarter" idx="20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pic" sz="quarter" idx="24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25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6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27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28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29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pic" sz="quarter" idx="30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pic" sz="quarter" idx="31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8" name="AutoShape 8"/>
          <p:cNvSpPr/>
          <p:nvPr>
            <p:ph type="pic" sz="quarter" idx="32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3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pic" sz="quarter" idx="34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35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5" name="AutoShape 5"/>
          <p:cNvSpPr/>
          <p:nvPr>
            <p:ph type="pic" sz="quarter" idx="36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37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body" sz="quarter" idx="38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9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9" name="AutoShape 9"/>
          <p:cNvSpPr/>
          <p:nvPr>
            <p:ph type="body" sz="quarter" idx="40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0" name="AutoShape 10"/>
          <p:cNvSpPr/>
          <p:nvPr>
            <p:ph type="body" sz="quarter" idx="41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1" name="AutoShape 11"/>
          <p:cNvSpPr/>
          <p:nvPr>
            <p:ph type="body" sz="quarter" idx="42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2" name="AutoShape 12"/>
          <p:cNvSpPr/>
          <p:nvPr>
            <p:ph type="body" sz="quarter" idx="43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3" name="AutoShape 13"/>
          <p:cNvSpPr/>
          <p:nvPr>
            <p:ph type="body" sz="quarter" idx="44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4" name="AutoShape 14"/>
          <p:cNvSpPr/>
          <p:nvPr>
            <p:ph type="body" sz="quarter" idx="45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6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pic" sz="quarter" idx="47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48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5" name="AutoShape 5"/>
          <p:cNvSpPr/>
          <p:nvPr>
            <p:ph type="pic" sz="quarter" idx="49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50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pic" sz="quarter" idx="51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8" name="AutoShape 8"/>
          <p:cNvSpPr/>
          <p:nvPr>
            <p:ph type="pic" sz="quarter" idx="52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9" name="AutoShape 9"/>
          <p:cNvSpPr/>
          <p:nvPr>
            <p:ph type="body" sz="quarter" idx="53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0" name="AutoShape 10"/>
          <p:cNvSpPr/>
          <p:nvPr>
            <p:ph type="body" sz="quarter" idx="54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1" name="AutoShape 11"/>
          <p:cNvSpPr/>
          <p:nvPr>
            <p:ph type="body" sz="quarter" idx="55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2" name="AutoShape 12"/>
          <p:cNvSpPr/>
          <p:nvPr>
            <p:ph type="body" sz="quarter" idx="56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3" name="AutoShape 13"/>
          <p:cNvSpPr/>
          <p:nvPr>
            <p:ph type="body" sz="quarter" idx="57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4" name="AutoShape 14"/>
          <p:cNvSpPr/>
          <p:nvPr>
            <p:ph type="body" sz="quarter" idx="58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17000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2014" y="326705"/>
            <a:ext cx="9144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477A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91606" y="1587162"/>
            <a:ext cx="5511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>
            <a:lvl1pPr marL="488950" indent="-203200"/>
            <a:lvl2pPr marL="946150" indent="-203200"/>
            <a:lvl3pPr marL="1403350" indent="-203200"/>
            <a:lvl4pPr marL="1860550" indent="-203200"/>
            <a:lvl5pPr marL="2317750" indent="-203200"/>
            <a:lvl6pPr marL="2774950" indent="-203200"/>
            <a:lvl7pPr marL="3232150" indent="-203200"/>
            <a:lvl8pPr marL="3689350" indent="-203200"/>
            <a:lvl9pPr marL="4146550" indent="-203200"/>
          </a:lstStyle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实现上次周会提的一个方向： 1 VM 多router+使用VM网卡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91606" y="1985234"/>
            <a:ext cx="85344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>
            <a:lvl1pPr marL="488950" indent="-203200"/>
            <a:lvl2pPr marL="946150" indent="-203200"/>
            <a:lvl3pPr marL="1403350" indent="-203200"/>
            <a:lvl4pPr marL="1860550" indent="-203200"/>
            <a:lvl5pPr marL="2317750" indent="-203200"/>
            <a:lvl6pPr marL="2774950" indent="-203200"/>
            <a:lvl7pPr marL="3232150" indent="-203200"/>
            <a:lvl8pPr marL="3689350" indent="-203200"/>
            <a:lvl9pPr marL="4146550" indent="-203200"/>
          </a:lstStyle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进一步降低峰值内存：在fork之后，加载配置前充分等待，有助于 Kernel Same-page Merging（KSM）模块充分合并相同页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550656" y="3118419"/>
          <a:ext cx="14788943" cy="1206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85285"/>
                <a:gridCol w="2660059"/>
                <a:gridCol w="2272672"/>
                <a:gridCol w="2272672"/>
              </a:tblGrid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方法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VM，1 router（VM 网卡）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VM，2 router（veth+vxlan）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VM，2router（VM网卡）</a:t>
                      </a:r>
                      <a:endParaRPr lang="en-US" sz="1100"/>
                    </a:p>
                  </a:txBody>
                  <a:tcPr marL="101600" marR="0" marT="101600" marB="101600" anchor="t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峰值内存（GB）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10.04（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-49.8%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8.65（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-56.8%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8.95（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-55.3%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550656" y="4948365"/>
          <a:ext cx="14788943" cy="1206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85285"/>
                <a:gridCol w="2660059"/>
                <a:gridCol w="2272672"/>
                <a:gridCol w="2272672"/>
              </a:tblGrid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方法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VM，1 router（VM 网卡）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VM，2 router（veth+vxlan）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VM，2router（VM网卡）</a:t>
                      </a:r>
                      <a:endParaRPr lang="en-US" sz="1100"/>
                    </a:p>
                  </a:txBody>
                  <a:tcPr marL="101600" marR="0" marT="101600" marB="101600" anchor="t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峰值内存（GB）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9.10（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-54.5%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8.21（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-59.0%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8.35（</a:t>
                      </a:r>
                      <a:r>
                        <a:rPr lang="en-US" sz="1400" b="0" i="0" u="none" strike="noStrike">
                          <a:solidFill>
                            <a:srgbClr val="D8393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-58.3%</a:t>
                      </a: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）</a:t>
                      </a:r>
                      <a:endParaRPr lang="en-US" sz="1100"/>
                    </a:p>
                  </a:txBody>
                  <a:tcPr marL="101600" marR="0" marT="101600" marB="101600" anchor="t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550656" y="2688106"/>
            <a:ext cx="15494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加载配置前等待</a:t>
            </a:r>
            <a:r>
              <a:rPr lang="en-US" sz="1400" b="1" i="0" u="none" strike="noStrike">
                <a:solidFill>
                  <a:srgbClr val="D8393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50656" y="4466165"/>
            <a:ext cx="1651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加载配置前等待</a:t>
            </a:r>
            <a:r>
              <a:rPr lang="en-US" sz="1400" b="1" i="0" u="none" strike="noStrike">
                <a:solidFill>
                  <a:srgbClr val="D8393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120s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52550" y="6370365"/>
            <a:ext cx="948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上述三种方法以及基线的实现代码、文档：https://codehub-y.huawei.com/zWX1411984/ensp_emufork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91606" y="1164935"/>
            <a:ext cx="2895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1、VM Fork降内存的进一步优化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43428" y="2688106"/>
            <a:ext cx="5257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实验设置：10个router，配置BGP发布10000条路由，基线内存20G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WPS 演示</Application>
  <PresentationFormat/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Noto Sans SC</vt:lpstr>
      <vt:lpstr>Calibri</vt:lpstr>
      <vt:lpstr>微软雅黑</vt:lpstr>
      <vt:lpstr>Arial Unicode MS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ruitianzhong</cp:lastModifiedBy>
  <cp:revision>1</cp:revision>
  <dcterms:created xsi:type="dcterms:W3CDTF">2026-07-29T07:05:36Z</dcterms:created>
  <dcterms:modified xsi:type="dcterms:W3CDTF">2026-07-29T07:05:36Z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437633244FC74CFCA4190ADEB663C810_13</vt:lpwstr>
  </property>
  <property fmtid="{D5CDD505-2E9C-101B-9397-08002B2CF9AE}" pid="3" name="KSOProductBuildVer">
    <vt:lpwstr>2052-12.1.0.26895</vt:lpwstr>
  </property>
</Properties>
</file>